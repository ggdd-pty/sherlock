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</c:v>
                </c:pt>
              </c:strCache>
            </c:strRef>
          </c:tx>
          <c:spPr>
            <a:solidFill>
              <a:srgbClr val="1C3D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9105000</c:v>
                </c:pt>
                <c:pt idx="1">
                  <c:v>9477000</c:v>
                </c:pt>
                <c:pt idx="2">
                  <c:v>9840000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6655000</c:v>
                </c:pt>
                <c:pt idx="1">
                  <c:v>6892000</c:v>
                </c:pt>
                <c:pt idx="2">
                  <c:v>7120000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4D8D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D4D8D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Uso de fondos (US$)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3D5A"/>
              </a:solidFill>
              <a:effectLst/>
            </c:spPr>
          </c:dPt>
          <c:dPt>
            <c:idx val="1"/>
            <c:bubble3D val="0"/>
            <c:spPr>
              <a:solidFill>
                <a:srgbClr val="B8862F"/>
              </a:solidFill>
              <a:effectLst/>
            </c:spPr>
          </c:dPt>
          <c:dPt>
            <c:idx val="2"/>
            <c:bubble3D val="0"/>
            <c:spPr>
              <a:solidFill>
                <a:srgbClr val="8CA3B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Refinanciamiento</c:v>
                </c:pt>
                <c:pt idx="1">
                  <c:v>Capex</c:v>
                </c:pt>
                <c:pt idx="2">
                  <c:v>Costos de cierre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11500000</c:v>
                </c:pt>
                <c:pt idx="1">
                  <c:v>5000000</c:v>
                </c:pt>
                <c:pt idx="2">
                  <c:v>1500000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0760"/>
            <a:ext cx="12191695" cy="54864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ANDINA SOLAR, S. 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8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Teaser de Crédito Senior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Generación solar fotovoltaica en Panamá — 42 MW con contrato de compraventa de energía (PPA)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Búsqueda de financiamiento senior por US$18,000,000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Confidencial — documento sintético de demostración, preparado exclusivamente para fines ilustrativos. No constituye una oferta de venta de valores ni una promesa de retornos.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2004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ANDINA SOLAR, S.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empresa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Confidencial — documento sintético de demostración. No constituye una oferta de venta de valores.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empresa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1563624"/>
            <a:ext cx="82296" cy="777240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087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Generador independiente de energía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3794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Andina Solar, S. A. es un generador independiente de energía eléctrica en la República de Panamá, dedicado exclusivamente a la generación solar fotovoltaica.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734056"/>
            <a:ext cx="82296" cy="777240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7919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Activo único, operativo desde 2019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0083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Compañía opera una planta solar de 42 MW ubicada en Provincia de Coclé, República de Panamá, en operación comercial continua desde 2019.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904488"/>
            <a:ext cx="82296" cy="777240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84962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Ingreso contractual con contraparte de distribución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1788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totalidad de la energía generada se vende bajo un contrato de compraventa de energía ("PPA") de 15 años con Distribuidora Istmeña, S. A..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5074920"/>
            <a:ext cx="82296" cy="777240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020056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Historial financiero auditable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3492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ejercicios de estados financieros auditados (2022-2024) con ingresos, EBITDA y generación crecientes de forma consistente.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2004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ANDINA SOLAR, S.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activo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Confidencial — documento sintético de demostración. No constituye una oferta de venta de valores.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activo: planta solar fotovoltaica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54480"/>
          <a:ext cx="6766560" cy="4480560"/>
        </p:xfrm>
        <a:graphic>
          <a:graphicData uri="http://schemas.openxmlformats.org/drawingml/2006/table">
            <a:tbl>
              <a:tblPr/>
              <a:tblGrid>
                <a:gridCol w="4206240"/>
                <a:gridCol w="256032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Atributo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Valor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Capacidad instalada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42 MW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Ubicación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Provincia de Coclé, República de Panamá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Entrada en operación comercial (COD)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2019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Factor de planta de referencia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16.6%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Degradación anual estimada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0.5%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Generación neta FY24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61,200 MWh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Vida útil de diseño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25 años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Opex anual de referencia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US$1,900,000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452360" y="1554480"/>
            <a:ext cx="4343400" cy="1371600"/>
          </a:xfrm>
          <a:prstGeom prst="roundRect">
            <a:avLst>
              <a:gd name="adj" fmla="val 4000"/>
            </a:avLst>
          </a:prstGeom>
          <a:solidFill>
            <a:srgbClr val="F5F6F7"/>
          </a:solidFill>
          <a:ln w="12700">
            <a:solidFill>
              <a:srgbClr val="D4D8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53528" y="1682496"/>
            <a:ext cx="3941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Capacidad instalada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53528" y="1938528"/>
            <a:ext cx="3941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 MW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653528" y="2615184"/>
            <a:ext cx="3941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Planta solar fotovoltaica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452360" y="3063240"/>
            <a:ext cx="4343400" cy="1371600"/>
          </a:xfrm>
          <a:prstGeom prst="roundRect">
            <a:avLst>
              <a:gd name="adj" fmla="val 4000"/>
            </a:avLst>
          </a:prstGeom>
          <a:solidFill>
            <a:srgbClr val="F5F6F7"/>
          </a:solidFill>
          <a:ln w="12700">
            <a:solidFill>
              <a:srgbClr val="D4D8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53528" y="3191256"/>
            <a:ext cx="3941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Generación FY24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653528" y="3447288"/>
            <a:ext cx="3941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61,200 MWh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653528" y="4123944"/>
            <a:ext cx="3941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de planta 16.6%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452360" y="4572000"/>
            <a:ext cx="4343400" cy="1371600"/>
          </a:xfrm>
          <a:prstGeom prst="roundRect">
            <a:avLst>
              <a:gd name="adj" fmla="val 4000"/>
            </a:avLst>
          </a:prstGeom>
          <a:solidFill>
            <a:srgbClr val="F5F6F7"/>
          </a:solidFill>
          <a:ln w="12700">
            <a:solidFill>
              <a:srgbClr val="D4D8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53528" y="4700016"/>
            <a:ext cx="3941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Años en operación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53528" y="4956048"/>
            <a:ext cx="3941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653528" y="5632704"/>
            <a:ext cx="3941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 en 2019, sin eventos de deterioro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2004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ANDINA SOLAR, S.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 PPA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Confidencial — documento sintético de demostración. No constituye una oferta de venta de valores.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 de compraventa de energía (PPA)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54480"/>
          <a:ext cx="11384280" cy="3108960"/>
        </p:xfrm>
        <a:graphic>
          <a:graphicData uri="http://schemas.openxmlformats.org/drawingml/2006/table">
            <a:tbl>
              <a:tblPr/>
              <a:tblGrid>
                <a:gridCol w="3291840"/>
                <a:gridCol w="8092440"/>
              </a:tblGrid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Término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Descripción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Contraparte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Distribuidora Istmeña, S. A.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Plazo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15 años (2019–2034)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Tarifa vigente (2024)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US$0.1607/kWh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Indexación anual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2% por año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Volumen contratado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Totalidad de la energía generada por la planta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Garantías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DSRA, fideicomiso de flujos, garantía de cumplimiento de la Distribuidora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Evolución de la tarifa e ingreso por energía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193792"/>
          <a:ext cx="7315200" cy="118872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246888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Ejercicio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Tarifa (US$/kWh)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Ingreso por energía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2022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US$0.1545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US$9,100,050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2023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US$0.1576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US$9,471,760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2024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US$0.1607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US$9,834,840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2004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ANDINA SOLAR, S.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Cifras clave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Confidencial — documento sintético de demostración. No constituye una oferta de venta de valores.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Cifras clave — FY24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5F6F7"/>
          </a:solidFill>
          <a:ln w="12700">
            <a:solidFill>
              <a:srgbClr val="D4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682496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Ingresos FY24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193852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US$9,840,000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2648" y="2706624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 de energía + otros ingresos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0" y="155448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5F6F7"/>
          </a:solidFill>
          <a:ln w="12700">
            <a:solidFill>
              <a:srgbClr val="D4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1682496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EBITDA FY24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07408" y="193852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US$7,120,000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07408" y="2706624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Margen 72.4%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01000" y="1554480"/>
            <a:ext cx="3794760" cy="1463040"/>
          </a:xfrm>
          <a:prstGeom prst="roundRect">
            <a:avLst>
              <a:gd name="adj" fmla="val 3750"/>
            </a:avLst>
          </a:prstGeom>
          <a:solidFill>
            <a:srgbClr val="F5F6F7"/>
          </a:solidFill>
          <a:ln w="12700">
            <a:solidFill>
              <a:srgbClr val="D4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168" y="1682496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Deuda actual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02168" y="1938528"/>
            <a:ext cx="3392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US$11,500,000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02168" y="2706624"/>
            <a:ext cx="3392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refinanciar con la nueva estructura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20040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5F6F7"/>
          </a:solidFill>
          <a:ln w="12700">
            <a:solidFill>
              <a:srgbClr val="D4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328416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Generación FY24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" y="358444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61,200 MWh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2648" y="4352544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de planta 16.6%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0" y="320040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5F6F7"/>
          </a:solidFill>
          <a:ln w="12700">
            <a:solidFill>
              <a:srgbClr val="D4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3328416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Tarifa PPA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07408" y="358444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US$0.1607/kWh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407408" y="4352544"/>
            <a:ext cx="3209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Indexación 2%/año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01000" y="3200400"/>
            <a:ext cx="3794760" cy="1463040"/>
          </a:xfrm>
          <a:prstGeom prst="roundRect">
            <a:avLst>
              <a:gd name="adj" fmla="val 3750"/>
            </a:avLst>
          </a:prstGeom>
          <a:solidFill>
            <a:srgbClr val="F5F6F7"/>
          </a:solidFill>
          <a:ln w="12700">
            <a:solidFill>
              <a:srgbClr val="D4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2168" y="3328416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Capacidad instalada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02168" y="3584448"/>
            <a:ext cx="3392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 MW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02168" y="4352544"/>
            <a:ext cx="3392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Provincia de Coclé, República de Panamá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4892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Ingresos y EBITDA — evolución 2022-2024 (US$)</a:t>
            </a:r>
            <a:endParaRPr lang="en-US" sz="13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411480" y="5230368"/>
          <a:ext cx="1138428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2004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ANDINA SOLAR, S.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de fondos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Confidencial — documento sintético de demostración. No constituye una oferta de venta de valores.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de fondos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Préstamo senior propuesto: US$18,000,000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" y="173736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37360"/>
          <a:ext cx="5532120" cy="2377440"/>
        </p:xfrm>
        <a:graphic>
          <a:graphicData uri="http://schemas.openxmlformats.org/drawingml/2006/table">
            <a:tbl>
              <a:tblPr/>
              <a:tblGrid>
                <a:gridCol w="3063240"/>
                <a:gridCol w="14630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Componente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Monto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%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Refinanciamiento de deuda existente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US$11,500,000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64%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Capex — mejoras de eficiencia de planta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US$5,000,000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28%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Costos de cierre y estructuración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US$1,500,000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8%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Total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US$18,000,000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100%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263640" y="4343400"/>
            <a:ext cx="5532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refinanciamiento sustituye en su totalidad la deuda financiera senior vigente al cierre de 2024, reportada en los estados financieros auditados.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2004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ANDINA SOLAR, S.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propuesta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Confidencial — documento sintético de demostración. No constituye una oferta de venta de valores.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 financiamiento propuesta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6035040" cy="448056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Término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Descripción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Instrumento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Préstamo senior garantizado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Monto principal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US$18,000,000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Plazo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 años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Tasa de interés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7.25% anual, fija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Amortización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Cuota anual nivelada (capital + interés)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Cuota anual estimada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US$2,296,525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Garantías propuestas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Fideicomiso de flujos del contrato PPA, hipoteca sobre la planta, DSRA equivalente a un servicio de deuda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67512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Amortización propuesta (primeros años, US$)</a:t>
            </a:r>
            <a:endParaRPr lang="en-US" sz="12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74520"/>
          <a:ext cx="5120640" cy="2743200"/>
        </p:xfrm>
        <a:graphic>
          <a:graphicData uri="http://schemas.openxmlformats.org/drawingml/2006/table">
            <a:tbl>
              <a:tblPr/>
              <a:tblGrid>
                <a:gridCol w="640080"/>
                <a:gridCol w="1234440"/>
                <a:gridCol w="1051560"/>
                <a:gridCol w="1097280"/>
                <a:gridCol w="109728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Año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Saldo inicial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Interés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Principal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Saldo final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18,000,000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1,305,000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991,525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17,008,475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17,008,475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1,233,114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1,063,410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15,945,065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15,945,065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1,156,017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1,140,507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14,804,558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14,804,558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1,073,330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1,223,194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13,581,364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13,581,364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984,649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1,311,876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12,269,488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12,269,488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889,538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1,406,987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F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10,862,501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675120" y="47091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Tabla completa de 12 años disponible en el archivo de supuestos operativos (hoja "Deuda").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2004"/>
          </a:xfrm>
          <a:prstGeom prst="rect">
            <a:avLst/>
          </a:prstGeom>
          <a:solidFill>
            <a:srgbClr val="B8862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ANDINA SOLAR, S.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Confidencial — documento sintético de demostración. No constituye una oferta de venta de valores.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Siguiente paso y contacto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502920" cy="502920"/>
          </a:xfrm>
          <a:prstGeom prst="ellipse">
            <a:avLst/>
          </a:prstGeom>
          <a:solidFill>
            <a:srgbClr val="1C3D5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490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Revisión de materiales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81965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Estados financieros, teaser, supuestos operativos y resumen del contrato PPA, disponibles en la sala de datos ("VDR").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560320"/>
            <a:ext cx="502920" cy="502920"/>
          </a:xfrm>
          <a:prstGeom prst="ellipse">
            <a:avLst/>
          </a:prstGeom>
          <a:solidFill>
            <a:srgbClr val="1C3D5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Sesión de preguntas y respuestas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87121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Aclaración de supuestos operativos, contractuales y financieros con el equipo de la Compañía.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611880"/>
            <a:ext cx="502920" cy="502920"/>
          </a:xfrm>
          <a:prstGeom prst="ellipse">
            <a:avLst/>
          </a:prstGeom>
          <a:solidFill>
            <a:srgbClr val="1C3D5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5935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 ampliado a la sala de datos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9227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Habilitación de documentación adicional bajo acuerdo de confidencialidad ("NDA").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892040"/>
            <a:ext cx="11384280" cy="18288"/>
          </a:xfrm>
          <a:prstGeom prst="rect">
            <a:avLst/>
          </a:prstGeom>
          <a:solidFill>
            <a:srgbClr val="D4D8DC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074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5394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 de Asesores Financieros — Andina Solar, S. 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5687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asesores@andinasolar-demo.example  |  +507 000-0000 (línea de ejemplo, ficticia)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Contacto disponible a través de la sala de datos ("VDR") del proceso.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Andina Solar, S. 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Andina Solar, S. A. — Teaser de crédito</dc:title>
  <dc:subject>PptxGenJS Presentation</dc:subject>
  <dc:creator>Andina Solar, S. A.</dc:creator>
  <cp:lastModifiedBy>Andina Solar, S. A.</cp:lastModifiedBy>
  <cp:revision>1</cp:revision>
  <dcterms:created xsi:type="dcterms:W3CDTF">2026-08-25T01:03:22Z</dcterms:created>
  <dcterms:modified xsi:type="dcterms:W3CDTF">2026-08-25T01:03:22Z</dcterms:modified>
</cp:coreProperties>
</file>